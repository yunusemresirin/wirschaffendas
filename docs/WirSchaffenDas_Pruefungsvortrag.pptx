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10"/>
  </p:normalViewPr>
  <p:slideViewPr>
    <p:cSldViewPr snapToGrid="0" snapToObjects="1">
      <p:cViewPr>
        <p:scale>
          <a:sx n="71" d="100"/>
          <a:sy n="71" d="100"/>
        </p:scale>
        <p:origin x="2261" y="11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473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Begrüßung: Projekt in einem Satz erklären.
Kernthese: Wir zeigen nicht nur Code, sondern Traceability von Anforderungen über DDD bis zur lauffähigen Demo.
Zeit: ca. 45 Sekunden.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das Ausgangsproblem aus Übung 5 nennen: mehrere Analysealgorithmen in einer problematischen Komponente.
Ziel: nicht Big-Bang-Migration, sondern enger, prüfbarer PoC.
Zeit: ca.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Anforderungen nicht zu breit machen: Der Umfang soll in zwei Wochen realistisch sein.
Begründung für Scope: Kafka/Camunda/MCP bewusst nicht im Kern, weil die Analyse-Komponente reicht und bereits Pflichtanforderungen erfüllt.
Zeit: ca.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sechs Bounded Contexts nennen: zwei unterstützende, vier Analyse-Contexts.
Wichtig: Analysis Management ist kein Algorithmus, sondern verwaltet Status und Retry.
Kein gemeinsames Domain-Modell, um Kopplung zu vermeiden.
Zeit: ca. 1.5 Minuten.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die Bausteinsicht erklären: configuration und analysis-management besitzen Daten, Analyse-Services sind stateless.
Extern/Intern trennen: Was der Ingenieur/Postman sieht, und was Services untereinander verwenden.
Zeit: ca. 1.5 Minuten.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Erklären, dass POST /api/analyses mit 202 Accepted zurückkommt.
Die eigentliche Analyse läuft asynchron, Status ist währenddessen abrufbar.
Jeder Service meldet sein Resultat zurück und startet den nächsten.
Zeit: ca. 1.5 Minuten.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der wichtigste Demo-Moment: docker compose stop thermal-analysis-service.
Dann zeigt GET /api/analyses: THERMAL FAILED und overallResult FAILED.
Nach docker compose start thermal-analysis-service: Retry THERMAL, danach Fortsetzung ab Thermal.
Zeit: ca. 1.5 Minuten.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zeigen: Jeder Service läuft im eigenen Container; dadurch Independent Deployability.
Nicht nur manuelle Demo: JUnit + e2e.sh decken Kernrisiken ab.
Wenn Docker-Hub-Images nicht aktuell sind, alternative_docker-compose.yml lokal bauen.
Zeit: ca.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Zum Abschluss nicht weiter ins Detail gehen, sondern die bewertungsrelevante Kette schließen.
Code-Walkthrough: nur 3–4 Dateien öffnen, nicht durch alle Services scrollen.
Gute Schlussformulierung: Die Architekturentscheidungen sind im laufenden System demonstrierbar.
Zeit: ca. 1 Minute plus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46BFE"/>
                </a:solidFill>
              </a:rPr>
              <a:t>WirSchaffenDas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 Quality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94944" y="2331720"/>
            <a:ext cx="6858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F6C7B"/>
                </a:solidFill>
              </a:rPr>
              <a:t>Microservice-basierter Proof-of-Concept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F6C7B"/>
                </a:solidFill>
              </a:rPr>
              <a:t>für die Qualitätsanalyse einer Diesel-Engine-Konfiguration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00078" y="3704934"/>
            <a:ext cx="960120" cy="0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 flipV="1">
            <a:off x="7737438" y="3704933"/>
            <a:ext cx="777241" cy="1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9474798" y="3704934"/>
            <a:ext cx="777240" cy="0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177118" y="3384894"/>
            <a:ext cx="822960" cy="640080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13D"/>
                </a:solidFill>
              </a:rPr>
              <a:t>Config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60198" y="3384894"/>
            <a:ext cx="777240" cy="64008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13D"/>
                </a:solidFill>
              </a:rPr>
              <a:t>Mgmt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14679" y="3293453"/>
            <a:ext cx="960119" cy="82296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213D"/>
                </a:solidFill>
              </a:rPr>
              <a:t>4×</a:t>
            </a:r>
            <a:r>
              <a:rPr lang="en-US" sz="950" dirty="0"/>
              <a:t> </a:t>
            </a:r>
            <a:r>
              <a:rPr lang="en-US" sz="950" b="1" dirty="0" err="1">
                <a:solidFill>
                  <a:srgbClr val="14213D"/>
                </a:solidFill>
              </a:rPr>
              <a:t>Analyse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252038" y="3384894"/>
            <a:ext cx="822960" cy="640080"/>
          </a:xfrm>
          <a:prstGeom prst="rect">
            <a:avLst/>
          </a:prstGeom>
          <a:solidFill>
            <a:srgbClr val="E9EAFB"/>
          </a:solidFill>
          <a:ln w="13970">
            <a:solidFill>
              <a:srgbClr val="6C6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213D"/>
                </a:solidFill>
              </a:rPr>
              <a:t>Docker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" y="3794760"/>
            <a:ext cx="2788920" cy="329184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Prüfungsvortrag · 10–13 Minuten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" y="4389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F6C7B"/>
                </a:solidFill>
              </a:rPr>
              <a:t>Fokus: Anforderungen → DDD → Architektur → Demo → Lessons Learned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4944" y="61081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794"/>
                </a:solidFill>
              </a:rPr>
              <a:t>Quellenbasis: Übungsblätter 4–6, Kapitel 3, Paper Schirgi &amp; Brenner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· Ausgangslage und Ziel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C7B"/>
                </a:solidFill>
              </a:rPr>
              <a:t>Warum überhaupt Microservices in diesem Semesterprojekt?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WirSchaffenDas · SEKA · 2/9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42062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4213D"/>
                </a:solidFill>
              </a:rPr>
              <a:t>Die Analyse-Komponente bündelt mehrere fachlich eigenständige Algorithmen. Dadurch entstehen Kopplung, schwerere Änderungen und schwache Fehlerisolation.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06640" y="1417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A673"/>
                </a:solidFill>
              </a:rPr>
              <a:t>Zielbild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06640" y="1810512"/>
            <a:ext cx="4114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4213D"/>
                </a:solidFill>
              </a:rPr>
              <a:t>Ein Proof-of-Concept mit fachlich geschnittenen Analyse-Services, sichtbarem Status, Retry und kontrollierter Fehlerbehandlung.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00600" y="3383280"/>
            <a:ext cx="2313432" cy="0"/>
          </a:xfrm>
          <a:prstGeom prst="line">
            <a:avLst/>
          </a:prstGeom>
          <a:noFill/>
          <a:ln w="25400">
            <a:solidFill>
              <a:srgbClr val="246BF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3017520" cy="1143000"/>
          </a:xfrm>
          <a:prstGeom prst="rect">
            <a:avLst/>
          </a:prstGeom>
          <a:solidFill>
            <a:srgbClr val="FFE4E8"/>
          </a:solidFill>
          <a:ln w="13970">
            <a:solidFill>
              <a:srgbClr val="E639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bestehende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Analyse-Komponente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60920" y="2560320"/>
            <a:ext cx="1417320" cy="685800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Fluid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52560" y="2560320"/>
            <a:ext cx="1417320" cy="685800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Thermal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60920" y="3566160"/>
            <a:ext cx="1417320" cy="685800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Electrical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52560" y="3474720"/>
            <a:ext cx="1417320" cy="868680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Engine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Management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892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</a:rPr>
              <a:t>Von einer gebündelten Analyse hin zu vier fachlich getrennten, eigenständig deploybaren Analyse-Microservices.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71800" y="5669280"/>
            <a:ext cx="6263640" cy="347472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Bewertungskern: Architekturentscheidung begründen, nicht nur Code zeigen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· Requirements und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C7B"/>
                </a:solidFill>
              </a:rPr>
              <a:t>Der PoC wurde bewusst klein und prüfbar gehalten.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WirSchaffenDas · SEKA · 3/9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737360" y="2231136"/>
            <a:ext cx="0" cy="32004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1737360" y="3209544"/>
            <a:ext cx="0" cy="32004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1737360" y="4187952"/>
            <a:ext cx="0" cy="32004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1737360" y="5166360"/>
            <a:ext cx="0" cy="32004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31520" y="1572768"/>
            <a:ext cx="201168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Konfiguration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erfassen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FR‑01/02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551176"/>
            <a:ext cx="201168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Analyse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starten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FR‑03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529584"/>
            <a:ext cx="201168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4 Analyse-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Services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FR‑04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507992"/>
            <a:ext cx="201168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Status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Resultate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FR‑06–09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486400"/>
            <a:ext cx="201168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Retry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Fehlerfall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213D"/>
                </a:solidFill>
              </a:rPr>
              <a:t>FR‑10/11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1252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6BFE"/>
                </a:solidFill>
              </a:rPr>
              <a:t>MUST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</a:rPr>
              <a:t>Technische Festlegung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0" y="1783080"/>
            <a:ext cx="2148840" cy="50292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Spring Boot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2514600"/>
            <a:ext cx="2148840" cy="50292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Docker / Compose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3246120"/>
            <a:ext cx="2148840" cy="50292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</a:rPr>
              <a:t>Resilience4j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</a:rPr>
              <a:t>Out of Scope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0" y="1783080"/>
            <a:ext cx="1463040" cy="685800"/>
          </a:xfrm>
          <a:prstGeom prst="rect">
            <a:avLst/>
          </a:prstGeom>
          <a:solidFill>
            <a:srgbClr val="F1F5F9"/>
          </a:solidFill>
          <a:ln w="13970">
            <a:solidFill>
              <a:srgbClr val="A8B3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6C7B"/>
                </a:solidFill>
              </a:rPr>
              <a:t>Kafka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F6C7B"/>
                </a:solidFill>
              </a:rPr>
              <a:t>(optional)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06840" y="1783080"/>
            <a:ext cx="1463040" cy="685800"/>
          </a:xfrm>
          <a:prstGeom prst="rect">
            <a:avLst/>
          </a:prstGeom>
          <a:solidFill>
            <a:srgbClr val="F1F5F9"/>
          </a:solidFill>
          <a:ln w="13970">
            <a:solidFill>
              <a:srgbClr val="A8B3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6C7B"/>
                </a:solidFill>
              </a:rPr>
              <a:t>Camunda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F6C7B"/>
                </a:solidFill>
              </a:rPr>
              <a:t>MCP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98480" y="1783080"/>
            <a:ext cx="914400" cy="685800"/>
          </a:xfrm>
          <a:prstGeom prst="rect">
            <a:avLst/>
          </a:prstGeom>
          <a:solidFill>
            <a:srgbClr val="F1F5F9"/>
          </a:solidFill>
          <a:ln w="13970">
            <a:solidFill>
              <a:srgbClr val="A8B3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6C7B"/>
                </a:solidFill>
              </a:rPr>
              <a:t>Web 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4343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</a:rPr>
              <a:t>Definition of Done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886200" y="4754880"/>
            <a:ext cx="69494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• docker compose startet das System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• Postman zeigt Happy Path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• Thermal-Ausfall + Retry demonstrierbar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• arc42 + 4 Sichten vorhanden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· DDD: Bounded Contexts → Microservices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C7B"/>
                </a:solidFill>
              </a:rPr>
              <a:t>Aus Anforderungen werden fachliche Service-Grenzen.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WirSchaffenDas · SEKA · 4/9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017520" y="2240280"/>
            <a:ext cx="1645920" cy="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6858000" y="2240280"/>
            <a:ext cx="731520" cy="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8915400" y="2240280"/>
            <a:ext cx="731520" cy="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10927080" y="2240280"/>
            <a:ext cx="502920" cy="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2331720" cy="1005840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</a:rPr>
              <a:t>Configuration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</a:rPr>
              <a:t>Management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1737360"/>
            <a:ext cx="2194560" cy="100584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</a:rPr>
              <a:t>Analysis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</a:rPr>
              <a:t>Management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89520" y="1737360"/>
            <a:ext cx="1325880" cy="100584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Fluid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46920" y="1737360"/>
            <a:ext cx="1325880" cy="100584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Thermal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4023360"/>
            <a:ext cx="1691640" cy="100584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Electrical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4023360"/>
            <a:ext cx="1691640" cy="100584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Engine Mgmt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Analysis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0" y="2724912"/>
            <a:ext cx="0" cy="1801368"/>
          </a:xfrm>
          <a:prstGeom prst="line">
            <a:avLst/>
          </a:prstGeom>
          <a:noFill/>
          <a:ln w="1524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2350008" y="4526280"/>
            <a:ext cx="576072" cy="0"/>
          </a:xfrm>
          <a:prstGeom prst="line">
            <a:avLst/>
          </a:prstGeom>
          <a:noFill/>
          <a:ln w="1524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8183880" y="2743200"/>
            <a:ext cx="0" cy="96012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10287000" y="2743200"/>
            <a:ext cx="0" cy="96012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1508760" y="4023360"/>
            <a:ext cx="4251960" cy="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3794760" y="4023360"/>
            <a:ext cx="1965960" cy="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102352" y="3776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A673"/>
                </a:solidFill>
              </a:rPr>
              <a:t>Status / Resultat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4160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</a:rPr>
              <a:t>Wichtige DDD-Entscheidung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4526280"/>
            <a:ext cx="45262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4213D"/>
                </a:solidFill>
              </a:rPr>
              <a:t>Kein gemeinsames common-domain-Modul. Jeder Context besitzt sein eigenes kleines Modell; Austausch nur über REST-DTOs.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583680" y="5577840"/>
            <a:ext cx="3840480" cy="329184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Vermeidet Wrong Cut und Shared-Kernel-Kopplung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· Bausteinsicht: Verantwortlichkeiten und Schnittstellen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C7B"/>
                </a:solidFill>
              </a:rPr>
              <a:t>Sechs Services, zwei Datenhoheiten, eine Choreographie-Kette.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WirSchaffenDas · SEKA · 5/9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423160" y="1874520"/>
            <a:ext cx="1371600" cy="0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5285232" y="1874520"/>
            <a:ext cx="1115568" cy="0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7589520" y="1874520"/>
            <a:ext cx="1097280" cy="0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9875520" y="1874520"/>
            <a:ext cx="822960" cy="0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1920240" cy="1005840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configuration-service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POST/GET /api/configurations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94760" y="1371600"/>
            <a:ext cx="1508760" cy="100584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analysis-management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/api/analyses + Callbacks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508760"/>
            <a:ext cx="1188720" cy="73152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fluid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0" y="1508760"/>
            <a:ext cx="1188720" cy="73152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thermal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98480" y="1508760"/>
            <a:ext cx="1234440" cy="73152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electrical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320272" y="2240280"/>
            <a:ext cx="0" cy="96012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492240" y="3154680"/>
            <a:ext cx="1828800" cy="68580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13D"/>
                </a:solidFill>
              </a:rPr>
              <a:t>engine-management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463040" y="2377440"/>
            <a:ext cx="0" cy="868680"/>
          </a:xfrm>
          <a:prstGeom prst="line">
            <a:avLst/>
          </a:prstGeom>
          <a:noFill/>
          <a:ln w="1397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553712" y="2377440"/>
            <a:ext cx="0" cy="868680"/>
          </a:xfrm>
          <a:prstGeom prst="line">
            <a:avLst/>
          </a:prstGeom>
          <a:noFill/>
          <a:ln w="1397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77240" y="3246120"/>
            <a:ext cx="1371600" cy="731520"/>
          </a:xfrm>
          <a:prstGeom prst="rect">
            <a:avLst/>
          </a:prstGeom>
          <a:solidFill>
            <a:srgbClr val="F1F5F9"/>
          </a:solidFill>
          <a:ln w="13970">
            <a:solidFill>
              <a:srgbClr val="A8B3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Configuration DB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(H2 / Volume)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86200" y="3246120"/>
            <a:ext cx="1371600" cy="731520"/>
          </a:xfrm>
          <a:prstGeom prst="rect">
            <a:avLst/>
          </a:prstGeom>
          <a:solidFill>
            <a:srgbClr val="F1F5F9"/>
          </a:solidFill>
          <a:ln w="13970">
            <a:solidFill>
              <a:srgbClr val="A8B3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Analysis DB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(H2 / Volume)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95160" y="2240280"/>
            <a:ext cx="0" cy="201168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9281160" y="2240280"/>
            <a:ext cx="0" cy="201168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11311128" y="2240280"/>
            <a:ext cx="0" cy="201168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7406640" y="3154680"/>
            <a:ext cx="0" cy="109728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3337560" y="435254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A673"/>
                </a:solidFill>
              </a:rPr>
              <a:t>proaktive Status-/Resultat-Callbacks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862456"/>
            <a:ext cx="35930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</a:rPr>
              <a:t>Extern sichtbare REST-Endpunkte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9808" y="5257800"/>
            <a:ext cx="493776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/api/configurations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GET /api/configurations/{id}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/api/analyses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GET /api/analyses/{id}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/api/analyses/{id}/algorithms/{algorithm}/retry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92240" y="4892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</a:rPr>
              <a:t>Interne Verträge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510528" y="5257800"/>
            <a:ext cx="3931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/internal/analyses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PUT /internal/.../status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PUT /internal/.../result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· Laufzeitsicht: Happy Path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C7B"/>
                </a:solidFill>
              </a:rPr>
              <a:t>Eine Analyse startet sofort und läuft anschließend asynchron weiter.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WirSchaffenDas · SEKA · 6/9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115568" cy="56692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Postman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97864" y="1965960"/>
            <a:ext cx="0" cy="365760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240280" y="1325880"/>
            <a:ext cx="1115568" cy="56692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Config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98064" y="1965960"/>
            <a:ext cx="0" cy="365760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977640" y="1325880"/>
            <a:ext cx="1115568" cy="56692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Mgmt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35424" y="1965960"/>
            <a:ext cx="0" cy="365760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623560" y="1325880"/>
            <a:ext cx="1115568" cy="566928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Fluid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81344" y="1965960"/>
            <a:ext cx="0" cy="365760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269480" y="1325880"/>
            <a:ext cx="1115568" cy="566928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Thermal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27264" y="1965960"/>
            <a:ext cx="0" cy="365760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8915400" y="1325880"/>
            <a:ext cx="1115568" cy="566928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Electrical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73184" y="1965960"/>
            <a:ext cx="0" cy="365760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10561320" y="1325880"/>
            <a:ext cx="1115568" cy="566928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Engine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Mgmt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119104" y="1965960"/>
            <a:ext cx="0" cy="3657600"/>
          </a:xfrm>
          <a:prstGeom prst="line">
            <a:avLst/>
          </a:prstGeom>
          <a:noFill/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1225296" y="2057400"/>
            <a:ext cx="1527048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1298448" y="189280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C7B"/>
                </a:solidFill>
              </a:rPr>
              <a:t>1 create config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1225296" y="2560320"/>
            <a:ext cx="3264408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1298448" y="23957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C7B"/>
                </a:solidFill>
              </a:rPr>
              <a:t>2 start analysis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562856" y="3063240"/>
            <a:ext cx="0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2898648" y="28986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C7B"/>
                </a:solidFill>
              </a:rPr>
              <a:t>3 load config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62856" y="3566160"/>
            <a:ext cx="1572768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636008" y="340156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C7B"/>
                </a:solidFill>
              </a:rPr>
              <a:t>4 start anchor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208776" y="4069080"/>
            <a:ext cx="1572768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6281928" y="390448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C7B"/>
                </a:solidFill>
              </a:rPr>
              <a:t>5 next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854696" y="4572000"/>
            <a:ext cx="1572768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7927848" y="440740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C7B"/>
                </a:solidFill>
              </a:rPr>
              <a:t>6 next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9500616" y="5074920"/>
            <a:ext cx="1572768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9573768" y="491032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F6C7B"/>
                </a:solidFill>
              </a:rPr>
              <a:t>7 next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153912" y="3767328"/>
            <a:ext cx="0" cy="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4800600" y="36027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7A673"/>
                </a:solidFill>
              </a:rPr>
              <a:t>RUNNING/OK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7799832" y="4251960"/>
            <a:ext cx="0" cy="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4800600" y="4087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7A673"/>
                </a:solidFill>
              </a:rPr>
              <a:t>OK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9445752" y="4754880"/>
            <a:ext cx="0" cy="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4800600" y="459028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7A673"/>
                </a:solidFill>
              </a:rPr>
              <a:t>OK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11091672" y="5257800"/>
            <a:ext cx="0" cy="0"/>
          </a:xfrm>
          <a:prstGeom prst="line">
            <a:avLst/>
          </a:prstGeom>
          <a:noFill/>
          <a:ln w="12700">
            <a:solidFill>
              <a:srgbClr val="17A67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4800600" y="50932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7A673"/>
                </a:solidFill>
              </a:rPr>
              <a:t>OK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685800" y="5989320"/>
            <a:ext cx="3611880" cy="329184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HTTP 202: Client blockiert nicht bis zum Abschluss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15000" y="5989320"/>
            <a:ext cx="4160520" cy="329184"/>
          </a:xfrm>
          <a:prstGeom prst="rect">
            <a:avLst/>
          </a:prstGeom>
          <a:solidFill>
            <a:srgbClr val="17A673"/>
          </a:solidFill>
          <a:ln>
            <a:solidFill>
              <a:srgbClr val="17A673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overallResult = OK, wenn alle vier READY/OK sind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 · Fehlerfall: Circuit Breaker und Retry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C7B"/>
                </a:solidFill>
              </a:rPr>
              <a:t>Der Ausfall eines Services wird sichtbar, aber bleibt kontrolliert.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WirSchaffenDas · SEKA · 7/9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783080" y="1965960"/>
            <a:ext cx="1188720" cy="0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1143000" cy="0"/>
          </a:xfrm>
          <a:prstGeom prst="line">
            <a:avLst/>
          </a:prstGeom>
          <a:noFill/>
          <a:ln w="1778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1097280" cy="82296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Fluid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READY / OK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1554480"/>
            <a:ext cx="1371600" cy="822960"/>
          </a:xfrm>
          <a:prstGeom prst="rect">
            <a:avLst/>
          </a:prstGeom>
          <a:solidFill>
            <a:srgbClr val="FFE4E8"/>
          </a:solidFill>
          <a:ln w="13970">
            <a:solidFill>
              <a:srgbClr val="E639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Thermal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DOWN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1508760"/>
            <a:ext cx="1645920" cy="914400"/>
          </a:xfrm>
          <a:prstGeom prst="rect">
            <a:avLst/>
          </a:prstGeom>
          <a:solidFill>
            <a:srgbClr val="FFE4E8"/>
          </a:solidFill>
          <a:ln w="13970">
            <a:solidFill>
              <a:srgbClr val="E639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Fallback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THERMAL FAILED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07408" y="2468880"/>
            <a:ext cx="960120" cy="256032"/>
          </a:xfrm>
          <a:prstGeom prst="rect">
            <a:avLst/>
          </a:prstGeom>
          <a:solidFill>
            <a:srgbClr val="E63946"/>
          </a:solidFill>
          <a:ln>
            <a:solidFill>
              <a:srgbClr val="E63946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Circuit Breaker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880360"/>
            <a:ext cx="0" cy="64008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5486400" y="4315968"/>
            <a:ext cx="0" cy="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657600" y="4754880"/>
            <a:ext cx="1280160" cy="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355080" y="4754880"/>
            <a:ext cx="1280160" cy="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9098280" y="4754880"/>
            <a:ext cx="1051560" cy="0"/>
          </a:xfrm>
          <a:prstGeom prst="line">
            <a:avLst/>
          </a:prstGeom>
          <a:noFill/>
          <a:ln w="1651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559552" y="3520440"/>
            <a:ext cx="1499616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Retry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</a:rPr>
              <a:t>THERMAL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4370832"/>
            <a:ext cx="1280160" cy="77724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Thermal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READY / OK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370832"/>
            <a:ext cx="1417320" cy="77724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Electrical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READY / OK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35240" y="4315968"/>
            <a:ext cx="1463040" cy="896112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Engine Mgmt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213D"/>
                </a:solidFill>
              </a:rPr>
              <a:t>READY / OK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149840" y="4370832"/>
            <a:ext cx="1234440" cy="77724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overallResult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OK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5605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</a:rPr>
              <a:t>Was wird demonstriert?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" y="591616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</a:rPr>
              <a:t>1. Container stoppen  2. Analyse starten  3. Fehlerstatus sehen  4. Container starten  5. Retry ausführen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 · Deployment und Tests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C7B"/>
                </a:solidFill>
              </a:rPr>
              <a:t>Der PoC ist als Docker-System und über Postman/E2E reproduzierbar.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WirSchaffenDas · SEKA · 8/9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Docker Host · wirschaffendas-network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14300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configuration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:8081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383280" y="2148840"/>
            <a:ext cx="114300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analysis mgmt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:8082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1143000" cy="658368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fluid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:8083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2560320" y="3154680"/>
            <a:ext cx="1143000" cy="658368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thermal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:8084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206240" y="3154680"/>
            <a:ext cx="1143000" cy="658368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electrical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:8085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148840" y="4160520"/>
            <a:ext cx="1143000" cy="658368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engine mgmt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4213D"/>
                </a:solidFill>
              </a:rPr>
              <a:t>:8086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2039112" y="2523744"/>
            <a:ext cx="749808" cy="146303"/>
          </a:xfrm>
          <a:prstGeom prst="line">
            <a:avLst/>
          </a:prstGeom>
          <a:noFill/>
          <a:ln w="1397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2057400" y="3474720"/>
            <a:ext cx="502920" cy="0"/>
          </a:xfrm>
          <a:prstGeom prst="line">
            <a:avLst/>
          </a:prstGeom>
          <a:noFill/>
          <a:ln w="1397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3703320" y="3474720"/>
            <a:ext cx="502920" cy="0"/>
          </a:xfrm>
          <a:prstGeom prst="line">
            <a:avLst/>
          </a:prstGeom>
          <a:noFill/>
          <a:ln w="1397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3657600" y="3794760"/>
            <a:ext cx="0" cy="365760"/>
          </a:xfrm>
          <a:prstGeom prst="line">
            <a:avLst/>
          </a:prstGeom>
          <a:noFill/>
          <a:ln w="1397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96112" y="5074920"/>
            <a:ext cx="1143000" cy="329184"/>
          </a:xfrm>
          <a:prstGeom prst="rect">
            <a:avLst/>
          </a:prstGeom>
          <a:solidFill>
            <a:srgbClr val="F1F5F9"/>
          </a:solidFill>
          <a:ln w="13970">
            <a:solidFill>
              <a:srgbClr val="A8B3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F6C7B"/>
                </a:solidFill>
              </a:rPr>
              <a:t>config-volume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401568" y="5074920"/>
            <a:ext cx="1143000" cy="329184"/>
          </a:xfrm>
          <a:prstGeom prst="rect">
            <a:avLst/>
          </a:prstGeom>
          <a:solidFill>
            <a:srgbClr val="F1F5F9"/>
          </a:solidFill>
          <a:ln w="13970">
            <a:solidFill>
              <a:srgbClr val="A8B3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F6C7B"/>
                </a:solidFill>
              </a:rPr>
              <a:t>analysis-volume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4465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</a:rPr>
              <a:t>Test-Nachweise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1874520"/>
            <a:ext cx="2377440" cy="77724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JUnit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AnalysisRun + Configuration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2788920"/>
            <a:ext cx="2377440" cy="777240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Postman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manuelle Prüfungsdemo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703320"/>
            <a:ext cx="2377440" cy="777240"/>
          </a:xfrm>
          <a:prstGeom prst="rect">
            <a:avLst/>
          </a:prstGeom>
          <a:solidFill>
            <a:srgbClr val="FFF2CC"/>
          </a:solidFill>
          <a:ln w="13970">
            <a:solidFill>
              <a:srgbClr val="FFB70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scripts/e2e.sh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213D"/>
                </a:solidFill>
              </a:rPr>
              <a:t>Happy Path + Failure/Retry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47181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</a:rPr>
              <a:t>Befehle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47181" y="1874520"/>
            <a:ext cx="2565699" cy="2560320"/>
          </a:xfrm>
          <a:prstGeom prst="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lvl="1"/>
            <a:r>
              <a:rPr lang="en-US" sz="10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mvn clean verify</a:t>
            </a:r>
            <a:endParaRPr lang="en-US" sz="1050" dirty="0"/>
          </a:p>
          <a:p>
            <a:pPr lvl="1"/>
            <a:endParaRPr lang="en-US" sz="1050" dirty="0"/>
          </a:p>
          <a:p>
            <a:pPr lvl="1"/>
            <a:r>
              <a:rPr lang="en-US" sz="10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docker compose up -d</a:t>
            </a:r>
            <a:endParaRPr lang="en-US" sz="1050" dirty="0"/>
          </a:p>
          <a:p>
            <a:pPr lvl="1"/>
            <a:r>
              <a:rPr lang="en-US" sz="10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bash scripts/e2e.sh</a:t>
            </a:r>
            <a:endParaRPr lang="en-US" sz="1050" dirty="0"/>
          </a:p>
          <a:p>
            <a:pPr lvl="1"/>
            <a:endParaRPr lang="en-US" sz="1050" dirty="0"/>
          </a:p>
          <a:p>
            <a:pPr lvl="1"/>
            <a:r>
              <a:rPr lang="en-US" sz="10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Source-build:</a:t>
            </a:r>
            <a:endParaRPr lang="en-US" sz="1050" dirty="0"/>
          </a:p>
          <a:p>
            <a:pPr lvl="1"/>
            <a:r>
              <a:rPr lang="en-US" sz="1050" dirty="0">
                <a:solidFill>
                  <a:srgbClr val="14213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docker compose -f alternative_docker-compose.yml up --build -d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46520" y="5074920"/>
            <a:ext cx="4754880" cy="329184"/>
          </a:xfrm>
          <a:prstGeom prst="rect">
            <a:avLst/>
          </a:prstGeom>
          <a:solidFill>
            <a:srgbClr val="14213D"/>
          </a:solidFill>
          <a:ln>
            <a:solidFill>
              <a:srgbClr val="14213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Deployment-Sicht + Teststrategie direkt in arc42 referenzierbar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· Code-Walkthrough, Lessons Learned und Abschluss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C7B"/>
                </a:solidFill>
              </a:rPr>
              <a:t>Was ich in der Prüfung live zeigen würde.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922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WirSchaffenDas · SEKA · 9/9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</a:rPr>
              <a:t>Live-Demo-Reihenfolge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141732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1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Compose starten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2194560" y="2112264"/>
            <a:ext cx="365760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2560320" y="1783080"/>
            <a:ext cx="141732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2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Konfiguration erstellen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3977640" y="2112264"/>
            <a:ext cx="365760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343400" y="1783080"/>
            <a:ext cx="141732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3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Analyse starten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777240" y="2651760"/>
            <a:ext cx="1417320" cy="658368"/>
          </a:xfrm>
          <a:prstGeom prst="rect">
            <a:avLst/>
          </a:prstGeom>
          <a:solidFill>
            <a:srgbClr val="DCEBFF"/>
          </a:solidFill>
          <a:ln w="13970">
            <a:solidFill>
              <a:srgbClr val="246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4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Status/Resultat zeigen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2194560" y="2980944"/>
            <a:ext cx="365760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2560320" y="2651760"/>
            <a:ext cx="1417320" cy="658368"/>
          </a:xfrm>
          <a:prstGeom prst="rect">
            <a:avLst/>
          </a:prstGeom>
          <a:solidFill>
            <a:srgbClr val="FFE4E8"/>
          </a:solidFill>
          <a:ln w="13970">
            <a:solidFill>
              <a:srgbClr val="E639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5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Thermal stoppen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3977640" y="2980944"/>
            <a:ext cx="365760" cy="0"/>
          </a:xfrm>
          <a:prstGeom prst="line">
            <a:avLst/>
          </a:prstGeom>
          <a:noFill/>
          <a:ln w="12700">
            <a:solidFill>
              <a:srgbClr val="A8B3C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343400" y="2651760"/>
            <a:ext cx="1417320" cy="658368"/>
          </a:xfrm>
          <a:prstGeom prst="rect">
            <a:avLst/>
          </a:prstGeom>
          <a:solidFill>
            <a:srgbClr val="FFE4E8"/>
          </a:solidFill>
          <a:ln w="13970">
            <a:solidFill>
              <a:srgbClr val="E639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6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14213D"/>
                </a:solidFill>
              </a:rPr>
              <a:t>Retry ausführen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537960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</a:rPr>
              <a:t>Code-Fokus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37959" y="1719072"/>
            <a:ext cx="3660289" cy="1591056"/>
          </a:xfrm>
          <a:prstGeom prst="rect">
            <a:avLst/>
          </a:prstGeom>
          <a:solidFill>
            <a:srgbClr val="FFFFFF"/>
          </a:solidFill>
          <a:ln>
            <a:solidFill>
              <a:srgbClr val="DDE3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lvl="1"/>
            <a:r>
              <a:rPr lang="en-US" sz="1400" dirty="0">
                <a:solidFill>
                  <a:srgbClr val="14213D"/>
                </a:solidFill>
              </a:rPr>
              <a:t>AnalysisWorker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14213D"/>
                </a:solidFill>
              </a:rPr>
              <a:t>NextServiceClient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14213D"/>
                </a:solidFill>
              </a:rPr>
              <a:t>AnalysisApplicationService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14213D"/>
                </a:solidFill>
              </a:rPr>
              <a:t>AnalysisRun / AlgorithmExecution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14213D"/>
                </a:solidFill>
              </a:rPr>
              <a:t>docker-compose.yml</a:t>
            </a:r>
            <a:endParaRPr lang="en-US" sz="1400" dirty="0"/>
          </a:p>
          <a:p>
            <a:pPr lvl="1"/>
            <a:r>
              <a:rPr lang="en-US" sz="1400" dirty="0">
                <a:solidFill>
                  <a:srgbClr val="14213D"/>
                </a:solidFill>
              </a:rPr>
              <a:t>scripts/e2e.sh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</a:rPr>
              <a:t>Lessons Learned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49808" y="4343400"/>
            <a:ext cx="55778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• Fachlicher Schnitt ist wichtiger als die Anzahl der Services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• Choreographie braucht klare Status-/Callback-</a:t>
            </a:r>
            <a:r>
              <a:rPr lang="en-US" sz="1500" dirty="0" err="1">
                <a:solidFill>
                  <a:srgbClr val="14213D"/>
                </a:solidFill>
              </a:rPr>
              <a:t>Verträge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• Circuit Breaker hilft nur, wenn Fehler fachlich </a:t>
            </a:r>
            <a:r>
              <a:rPr lang="en-US" sz="1500" dirty="0" err="1">
                <a:solidFill>
                  <a:srgbClr val="14213D"/>
                </a:solidFill>
              </a:rPr>
              <a:t>sichtbar</a:t>
            </a:r>
            <a:r>
              <a:rPr lang="en-US" sz="1500" dirty="0">
                <a:solidFill>
                  <a:srgbClr val="14213D"/>
                </a:solidFill>
              </a:rPr>
              <a:t> </a:t>
            </a:r>
            <a:r>
              <a:rPr lang="en-US" sz="1500" dirty="0" err="1">
                <a:solidFill>
                  <a:srgbClr val="14213D"/>
                </a:solidFill>
              </a:rPr>
              <a:t>werden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</a:rPr>
              <a:t>• Tests und Postman machen die </a:t>
            </a:r>
            <a:r>
              <a:rPr lang="en-US" sz="1500" dirty="0" err="1">
                <a:solidFill>
                  <a:srgbClr val="14213D"/>
                </a:solidFill>
              </a:rPr>
              <a:t>Architektur</a:t>
            </a:r>
            <a:r>
              <a:rPr lang="en-US" sz="1500" dirty="0">
                <a:solidFill>
                  <a:srgbClr val="14213D"/>
                </a:solidFill>
              </a:rPr>
              <a:t> </a:t>
            </a:r>
            <a:r>
              <a:rPr lang="en-US" sz="1500" dirty="0" err="1">
                <a:solidFill>
                  <a:srgbClr val="14213D"/>
                </a:solidFill>
              </a:rPr>
              <a:t>bewertbar</a:t>
            </a:r>
            <a:endParaRPr lang="en-US" sz="1500" dirty="0">
              <a:solidFill>
                <a:srgbClr val="14213D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37959" y="3703320"/>
            <a:ext cx="4480560" cy="1920240"/>
          </a:xfrm>
          <a:prstGeom prst="rect">
            <a:avLst/>
          </a:prstGeom>
          <a:solidFill>
            <a:srgbClr val="DFF6EE"/>
          </a:solidFill>
          <a:ln w="13970">
            <a:solidFill>
              <a:srgbClr val="17A67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lvl="1"/>
            <a:r>
              <a:rPr lang="en-US" sz="1400" dirty="0">
                <a:solidFill>
                  <a:srgbClr val="14213D"/>
                </a:solidFill>
              </a:rPr>
              <a:t>Der PoC erfüllt die </a:t>
            </a:r>
            <a:r>
              <a:rPr lang="en-US" sz="1400" dirty="0" err="1">
                <a:solidFill>
                  <a:srgbClr val="14213D"/>
                </a:solidFill>
              </a:rPr>
              <a:t>Kernanforderungen</a:t>
            </a:r>
            <a:r>
              <a:rPr lang="en-US" sz="1400" dirty="0">
                <a:solidFill>
                  <a:srgbClr val="14213D"/>
                </a:solidFill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4 Analyse-Microservices,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REST-</a:t>
            </a:r>
            <a:r>
              <a:rPr lang="en-US" sz="1400" dirty="0" err="1">
                <a:solidFill>
                  <a:srgbClr val="14213D"/>
                </a:solidFill>
              </a:rPr>
              <a:t>Choreographie</a:t>
            </a:r>
            <a:r>
              <a:rPr lang="en-US" sz="1400" dirty="0">
                <a:solidFill>
                  <a:srgbClr val="14213D"/>
                </a:solidFill>
              </a:rPr>
              <a:t>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Docker,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Circuit Breaker,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Retry,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4213D"/>
                </a:solidFill>
              </a:rPr>
              <a:t>arc42 + 4 </a:t>
            </a:r>
            <a:r>
              <a:rPr lang="en-US" sz="1400" dirty="0" err="1">
                <a:solidFill>
                  <a:srgbClr val="14213D"/>
                </a:solidFill>
              </a:rPr>
              <a:t>Sichten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60807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Quellen: Übungsblätter 4–6; Kapitel 3; Schirgi &amp; Brenner 2021; Projektdateien requirements.md, ddd.md, architecture.md, testing.md, arc42.md.</a:t>
            </a:r>
            <a:endParaRPr lang="en-US" sz="850" dirty="0"/>
          </a:p>
        </p:txBody>
      </p:sp>
      <p:cxnSp>
        <p:nvCxnSpPr>
          <p:cNvPr id="25" name="Verbinder: gewinkelt 24">
            <a:extLst>
              <a:ext uri="{FF2B5EF4-FFF2-40B4-BE49-F238E27FC236}">
                <a16:creationId xmlns:a16="http://schemas.microsoft.com/office/drawing/2014/main" id="{BF1305CF-574E-7C05-794A-4F7D0EB8C2A4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H="1">
            <a:off x="777240" y="2112264"/>
            <a:ext cx="4983480" cy="868680"/>
          </a:xfrm>
          <a:prstGeom prst="bentConnector5">
            <a:avLst>
              <a:gd name="adj1" fmla="val -4587"/>
              <a:gd name="adj2" fmla="val 50000"/>
              <a:gd name="adj3" fmla="val 1045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1213</Words>
  <Application>Microsoft Office PowerPoint</Application>
  <PresentationFormat>Breitbild</PresentationFormat>
  <Paragraphs>240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 Display</vt:lpstr>
      <vt:lpstr>Aptos Mono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HBRS / SEKA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WirSchaffenDas – Engine Quality Analysis</dc:title>
  <dc:subject>WirSchaffenDas Microservices Prüfungsvortrag</dc:subject>
  <dc:creator>OpenAI</dc:creator>
  <cp:lastModifiedBy>Yunus Emre Sirin</cp:lastModifiedBy>
  <cp:revision>2</cp:revision>
  <dcterms:created xsi:type="dcterms:W3CDTF">2026-08-14T21:44:50Z</dcterms:created>
  <dcterms:modified xsi:type="dcterms:W3CDTF">2026-08-14T21:53:58Z</dcterms:modified>
</cp:coreProperties>
</file>